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22"/>
  </p:notesMasterIdLst>
  <p:sldIdLst>
    <p:sldId id="278" r:id="rId5"/>
    <p:sldId id="279" r:id="rId6"/>
    <p:sldId id="281" r:id="rId7"/>
    <p:sldId id="306" r:id="rId8"/>
    <p:sldId id="299" r:id="rId9"/>
    <p:sldId id="300" r:id="rId10"/>
    <p:sldId id="302" r:id="rId11"/>
    <p:sldId id="290" r:id="rId12"/>
    <p:sldId id="297" r:id="rId13"/>
    <p:sldId id="304" r:id="rId14"/>
    <p:sldId id="298" r:id="rId15"/>
    <p:sldId id="285" r:id="rId16"/>
    <p:sldId id="307" r:id="rId17"/>
    <p:sldId id="280" r:id="rId18"/>
    <p:sldId id="308" r:id="rId19"/>
    <p:sldId id="292" r:id="rId20"/>
    <p:sldId id="31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85306" autoAdjust="0"/>
  </p:normalViewPr>
  <p:slideViewPr>
    <p:cSldViewPr snapToGrid="0">
      <p:cViewPr varScale="1">
        <p:scale>
          <a:sx n="81" d="100"/>
          <a:sy n="81" d="100"/>
        </p:scale>
        <p:origin x="51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 Becerra, Alejandro" userId="6c40396b-7faf-44bd-8d7c-b4c550fe1dde" providerId="ADAL" clId="{CB85CAF8-6FB3-4532-A4B5-8384D075B086}"/>
    <pc:docChg chg="modSld">
      <pc:chgData name="Sanchez Becerra, Alejandro" userId="6c40396b-7faf-44bd-8d7c-b4c550fe1dde" providerId="ADAL" clId="{CB85CAF8-6FB3-4532-A4B5-8384D075B086}" dt="2026-09-15T15:25:43.611" v="6" actId="20577"/>
      <pc:docMkLst>
        <pc:docMk/>
      </pc:docMkLst>
      <pc:sldChg chg="modSp mod">
        <pc:chgData name="Sanchez Becerra, Alejandro" userId="6c40396b-7faf-44bd-8d7c-b4c550fe1dde" providerId="ADAL" clId="{CB85CAF8-6FB3-4532-A4B5-8384D075B086}" dt="2026-09-15T15:25:43.611" v="6" actId="20577"/>
        <pc:sldMkLst>
          <pc:docMk/>
          <pc:sldMk cId="4167884232" sldId="278"/>
        </pc:sldMkLst>
        <pc:spChg chg="mod">
          <ac:chgData name="Sanchez Becerra, Alejandro" userId="6c40396b-7faf-44bd-8d7c-b4c550fe1dde" providerId="ADAL" clId="{CB85CAF8-6FB3-4532-A4B5-8384D075B086}" dt="2026-09-15T15:25:43.611" v="6" actId="20577"/>
          <ac:spMkLst>
            <pc:docMk/>
            <pc:sldMk cId="4167884232" sldId="278"/>
            <ac:spMk id="2" creationId="{0D1F047C-C727-42A7-85C5-68C5AA1B1A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581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6590-C74D-0721-1FC3-186DCB332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B996A-B1C1-7316-6899-614098DA5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18BFA-97B7-D33F-D11A-91BCA3EE1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55B3-9C48-64D2-3F63-E1165384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84FA3-9BC0-F689-B909-28A3E002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0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31CF-5BC1-32F2-EBAE-13F3BD9C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F0CF-C125-8579-054B-E0104BA89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7FE54-CCC7-2179-4727-359B2E04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FE24D-D2F3-245F-E7B5-B25B5E99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602F2-6173-7D26-76F3-F9BCFC11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0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E691-E647-F04D-8B56-75AC0A06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855DF-F368-B82F-948E-53D6C898F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32517-495B-DE03-4132-1A16B424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8121-7558-5434-3E25-3468353C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08115-5FBD-F722-C730-CAF38604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6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7176-B721-F1F2-CC35-404C8698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7E84-904D-3B74-BA20-856ADF053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AD3BA-0E63-BC86-2C97-24DAA7036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67833-F433-BE02-DD3B-8E61CE48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EF2B-6BE7-BAE2-6BD2-DFA872C34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3E828-3865-256F-DD71-606AB684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DB99-7F7C-A769-E7AA-460D2A1E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EB28D-B659-5B8E-558B-ADB9C8DA6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4E700-F303-E6F1-9F46-5A534CE04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532E8-BA2D-7736-C8ED-4DC59D874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F8B90-685E-FB05-0F84-F4794F432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6D97C-ECD6-3FC8-1C16-19EB19FB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CCEB9D-2AD0-387C-A6A7-DBD202CA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FA33C-F4E7-9227-AF57-39EB889A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EA31-0D4D-B178-2A29-AB09C104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BD65-88DF-20CD-A548-3E4FB35F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486A7-245B-B8A0-0B09-0088A387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EA6D-BD3D-AAEC-42FB-248EEFD9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2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D95A6-3724-1078-D540-AB1F6703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72BC4-ABE4-AAF5-7523-65C36F5D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0996D-FD3E-3B36-66A9-F7F75566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75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5F18-9FC6-4F4E-3A43-AF99DD90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12EA-7326-C7A0-9D43-23EF7DDE3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39A5-3555-828D-A3B4-3322AE3FE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85F9D-5EB0-912B-DB65-6385527C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8078D-706A-9B87-2EF7-8500279B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88AE8-18DA-A2C5-5369-168A3EE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261A-A13C-BA17-813A-FB072675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AF2EB-71D6-181C-240B-39D648614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60627-814C-5BE2-9AB1-45377A35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B042-7C7E-22B6-EC53-D949AA26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01FE-1231-AA2A-7395-840713EC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9570B-AEC9-677B-0779-69269961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2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4092-A2C2-9AE4-3ED5-588B6796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6F9CB-CDC7-EAE1-0E29-A70F5102B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EDAD4-E320-5EA3-6F41-4AE953BE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1A271-C16A-ED1B-ECDB-8E400CF7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B564B-0B90-F7E1-E8F6-D05726F5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939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103D5-9A9C-5B82-BC32-84A2A577E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91299-AF08-4E62-85CE-A31294EB9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87885-FFA1-EE73-4538-709FFD6D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03E59-2FBA-901E-2892-9A0D3CD8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0A13-C6C5-2F84-59F5-2F06370C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6754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A9F86-5A8B-B619-E286-89E79C90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94825-F17C-1CCF-E3E1-9F5998B25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9F8B-A368-72E3-C930-59289375B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5BD02-C548-00D5-A1C5-5ABA05E6C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6A59-C609-9CFE-7F20-46D3B7BC6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86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3469" y="354852"/>
            <a:ext cx="1219169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/>
              <a:t>DSCI 530:</a:t>
            </a:r>
            <a:br>
              <a:rPr lang="en-US" dirty="0"/>
            </a:br>
            <a:r>
              <a:rPr lang="en-US" dirty="0"/>
              <a:t>Introduction to Web Scraping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6A07-797F-3E3A-18B4-BE86EE09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What is web scraping?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2ED6B-FC40-B6B0-B635-A6201975D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Web scraping refers to the process of systematically extracting information from websites using automated code.</a:t>
            </a:r>
          </a:p>
        </p:txBody>
      </p:sp>
    </p:spTree>
    <p:extLst>
      <p:ext uri="{BB962C8B-B14F-4D97-AF65-F5344CB8AC3E}">
        <p14:creationId xmlns:p14="http://schemas.microsoft.com/office/powerpoint/2010/main" val="297697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E94D-3CEE-05DB-D6E3-777A0F56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Types of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DB28-58F4-5E47-4DF6-CF987D5B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API (Application Programming Interface)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lvl="1"/>
            <a:r>
              <a:rPr lang="en-US" dirty="0"/>
              <a:t>Protocol for users to retrieve information via web-based requests</a:t>
            </a:r>
          </a:p>
          <a:p>
            <a:pPr lvl="1"/>
            <a:r>
              <a:rPr lang="en-US" dirty="0"/>
              <a:t>Explicitly developed by the owner of the data to make the information available to others in an easy format</a:t>
            </a:r>
          </a:p>
          <a:p>
            <a:pPr lvl="1"/>
            <a:r>
              <a:rPr lang="en-US" dirty="0"/>
              <a:t>Structured output</a:t>
            </a:r>
          </a:p>
          <a:p>
            <a:pPr lvl="1"/>
            <a:r>
              <a:rPr lang="en-US" dirty="0"/>
              <a:t>Can be free (often with a cap on use) or subscription based</a:t>
            </a:r>
          </a:p>
          <a:p>
            <a:pPr lvl="1"/>
            <a:r>
              <a:rPr lang="en-US" dirty="0"/>
              <a:t>Internal company (password protected) or public domain.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740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E94D-3CEE-05DB-D6E3-777A0F56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Types of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DB28-58F4-5E47-4DF6-CF987D5B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 Web Crawling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lvl="1"/>
            <a:r>
              <a:rPr lang="en-US" dirty="0"/>
              <a:t>An automated algorithm designed to extract information from websites</a:t>
            </a:r>
          </a:p>
          <a:p>
            <a:pPr lvl="1"/>
            <a:r>
              <a:rPr lang="en-US" dirty="0"/>
              <a:t>Not explicitly developed by owner of data. The developer of the web crawler browses existing online data.</a:t>
            </a:r>
          </a:p>
          <a:p>
            <a:pPr lvl="1"/>
            <a:r>
              <a:rPr lang="en-US" dirty="0"/>
              <a:t>Unstructured data in a variety of web-based programming.</a:t>
            </a:r>
          </a:p>
          <a:p>
            <a:pPr lvl="1"/>
            <a:r>
              <a:rPr lang="en-US" dirty="0"/>
              <a:t>Often requires designing interactive coding, to click through different pages, or extract relevant information.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13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E94D-3CEE-05DB-D6E3-777A0F56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 Benefits of Web Scraping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DB28-58F4-5E47-4DF6-CF987D5B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construction: </a:t>
            </a:r>
            <a:r>
              <a:rPr lang="en-US" dirty="0"/>
              <a:t>New information available online.</a:t>
            </a:r>
          </a:p>
          <a:p>
            <a:r>
              <a:rPr lang="en-US" dirty="0">
                <a:solidFill>
                  <a:srgbClr val="FF0000"/>
                </a:solidFill>
              </a:rPr>
              <a:t>Data updating</a:t>
            </a:r>
            <a:r>
              <a:rPr lang="en-US" dirty="0"/>
              <a:t>: Periodically pull new information.</a:t>
            </a:r>
          </a:p>
          <a:p>
            <a:r>
              <a:rPr lang="en-US" dirty="0">
                <a:solidFill>
                  <a:srgbClr val="FF0000"/>
                </a:solidFill>
              </a:rPr>
              <a:t>App development: </a:t>
            </a:r>
            <a:r>
              <a:rPr lang="en-US" dirty="0"/>
              <a:t>Business application using external information, e.g. geolocation.</a:t>
            </a:r>
          </a:p>
          <a:p>
            <a:r>
              <a:rPr lang="en-US" dirty="0">
                <a:solidFill>
                  <a:srgbClr val="FF0000"/>
                </a:solidFill>
              </a:rPr>
              <a:t>Automation:  </a:t>
            </a:r>
            <a:r>
              <a:rPr lang="en-US" dirty="0"/>
              <a:t>Repeat tasks that might otherwise be done manually.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Python has a very sophisticated set of tools for handling web scraping tasks!</a:t>
            </a:r>
          </a:p>
        </p:txBody>
      </p:sp>
    </p:spTree>
    <p:extLst>
      <p:ext uri="{BB962C8B-B14F-4D97-AF65-F5344CB8AC3E}">
        <p14:creationId xmlns:p14="http://schemas.microsoft.com/office/powerpoint/2010/main" val="391156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9945-A4BB-9303-E734-5A02ACE4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Challenges of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687A9-8049-AA5D-F3B0-22EC6B162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Complexity: </a:t>
            </a:r>
            <a:r>
              <a:rPr lang="en-US" dirty="0"/>
              <a:t>Websites often have a complex structure and processing requires advanced data wrangling.</a:t>
            </a:r>
          </a:p>
          <a:p>
            <a:r>
              <a:rPr lang="en-US" dirty="0">
                <a:solidFill>
                  <a:srgbClr val="FF0000"/>
                </a:solidFill>
              </a:rPr>
              <a:t>Interactivity: </a:t>
            </a:r>
            <a:r>
              <a:rPr lang="en-US" dirty="0"/>
              <a:t>Some websites require user interaction to obtain data and this needed to be coded.</a:t>
            </a:r>
          </a:p>
          <a:p>
            <a:r>
              <a:rPr lang="en-US" dirty="0">
                <a:solidFill>
                  <a:srgbClr val="FF0000"/>
                </a:solidFill>
              </a:rPr>
              <a:t>Multiple Environments:</a:t>
            </a:r>
            <a:r>
              <a:rPr lang="en-US" dirty="0"/>
              <a:t> Scraping requires knowledge of different types of languages Python, HTML, JSON, depending on the format of the dataset.</a:t>
            </a:r>
          </a:p>
          <a:p>
            <a:r>
              <a:rPr lang="en-US" dirty="0">
                <a:solidFill>
                  <a:srgbClr val="FF0000"/>
                </a:solidFill>
              </a:rPr>
              <a:t>Scaling: </a:t>
            </a:r>
            <a:r>
              <a:rPr lang="en-US" dirty="0"/>
              <a:t>Automating the process and making it fast requires knowledge of flow control and parallel computing.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We’ll teach you all these skills!</a:t>
            </a:r>
          </a:p>
        </p:txBody>
      </p:sp>
    </p:spTree>
    <p:extLst>
      <p:ext uri="{BB962C8B-B14F-4D97-AF65-F5344CB8AC3E}">
        <p14:creationId xmlns:p14="http://schemas.microsoft.com/office/powerpoint/2010/main" val="343647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9945-A4BB-9303-E734-5A02ACE4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Ethical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687A9-8049-AA5D-F3B0-22EC6B162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 mindful of user’s </a:t>
            </a:r>
            <a:r>
              <a:rPr lang="en-US" dirty="0">
                <a:solidFill>
                  <a:srgbClr val="FF0000"/>
                </a:solidFill>
              </a:rPr>
              <a:t>right to privacy </a:t>
            </a:r>
            <a:r>
              <a:rPr lang="en-US" dirty="0"/>
              <a:t>and be careful to abide by existing </a:t>
            </a:r>
            <a:r>
              <a:rPr lang="en-US" dirty="0">
                <a:solidFill>
                  <a:srgbClr val="FF0000"/>
                </a:solidFill>
              </a:rPr>
              <a:t>legal frameworks.</a:t>
            </a:r>
          </a:p>
          <a:p>
            <a:r>
              <a:rPr lang="en-US" dirty="0"/>
              <a:t>Some websites explicitly prohibit web scraping in their </a:t>
            </a:r>
            <a:r>
              <a:rPr lang="en-US" dirty="0">
                <a:solidFill>
                  <a:srgbClr val="FF0000"/>
                </a:solidFill>
              </a:rPr>
              <a:t>terms of service</a:t>
            </a:r>
            <a:r>
              <a:rPr lang="en-US" dirty="0"/>
              <a:t>. Gather information about a website’s existing policies before beginning a web-scraping task.</a:t>
            </a:r>
          </a:p>
          <a:p>
            <a:pPr lvl="1"/>
            <a:r>
              <a:rPr lang="en-US" dirty="0"/>
              <a:t>This may include restrictions on how the information can be extracted, stored in an external repository, and or resold to third parties.</a:t>
            </a:r>
          </a:p>
          <a:p>
            <a:pPr lvl="1"/>
            <a:r>
              <a:rPr lang="en-US" dirty="0"/>
              <a:t>It may also include conditions on whether information can be used for personal and/or commercial purposes.</a:t>
            </a:r>
          </a:p>
          <a:p>
            <a:r>
              <a:rPr lang="en-US" dirty="0"/>
              <a:t>Be mindful of </a:t>
            </a:r>
            <a:r>
              <a:rPr lang="en-US" dirty="0">
                <a:solidFill>
                  <a:srgbClr val="FF0000"/>
                </a:solidFill>
              </a:rPr>
              <a:t>not disrupting </a:t>
            </a:r>
            <a:r>
              <a:rPr lang="en-US" dirty="0"/>
              <a:t>a website’s normal operation through too many requests. Some websites may restrict web access.</a:t>
            </a:r>
          </a:p>
          <a:p>
            <a:r>
              <a:rPr lang="en-US" dirty="0"/>
              <a:t>Websites may include ads that advertisers pay for, and creating artificial bots that click through these ads can generate unethical disruptions in a business’ operations.</a:t>
            </a:r>
          </a:p>
        </p:txBody>
      </p:sp>
    </p:spTree>
    <p:extLst>
      <p:ext uri="{BB962C8B-B14F-4D97-AF65-F5344CB8AC3E}">
        <p14:creationId xmlns:p14="http://schemas.microsoft.com/office/powerpoint/2010/main" val="69043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3469" y="354852"/>
            <a:ext cx="1219169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Part I: JSON Formatting and Extracting Data via APIs </a:t>
            </a:r>
          </a:p>
        </p:txBody>
      </p:sp>
    </p:spTree>
    <p:extLst>
      <p:ext uri="{BB962C8B-B14F-4D97-AF65-F5344CB8AC3E}">
        <p14:creationId xmlns:p14="http://schemas.microsoft.com/office/powerpoint/2010/main" val="35014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71FB-50B2-6EF2-2B73-9A179C76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JSON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36A6-B0B5-5FC5-E04C-D22A67157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JSON stands for </a:t>
            </a:r>
            <a:r>
              <a:rPr lang="en-US" dirty="0">
                <a:solidFill>
                  <a:srgbClr val="FF0000"/>
                </a:solidFill>
              </a:rPr>
              <a:t>J</a:t>
            </a:r>
            <a:r>
              <a:rPr lang="en-US" dirty="0"/>
              <a:t>ava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cript 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/>
              <a:t>bject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otation</a:t>
            </a:r>
          </a:p>
          <a:p>
            <a:pPr lvl="1"/>
            <a:r>
              <a:rPr lang="en-US" dirty="0"/>
              <a:t>Frequently used in web-based programming</a:t>
            </a:r>
          </a:p>
          <a:p>
            <a:pPr lvl="1"/>
            <a:r>
              <a:rPr lang="en-US" dirty="0"/>
              <a:t>Relies on key-value pairs, e.g. “</a:t>
            </a:r>
            <a:r>
              <a:rPr lang="en-US" dirty="0" err="1"/>
              <a:t>first_name</a:t>
            </a:r>
            <a:r>
              <a:rPr lang="en-US" dirty="0"/>
              <a:t>” and “John”, respectively.</a:t>
            </a:r>
          </a:p>
          <a:p>
            <a:pPr lvl="1"/>
            <a:r>
              <a:rPr lang="en-US" dirty="0"/>
              <a:t>Definition starts with curly </a:t>
            </a:r>
            <a:r>
              <a:rPr lang="en-US" dirty="0" err="1"/>
              <a:t>brackes</a:t>
            </a:r>
            <a:r>
              <a:rPr lang="en-US" dirty="0"/>
              <a:t>, assignment with colon, elements separated by a comma.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0D65E-1E05-FBC3-EA1D-13F66BC60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465" y="3827332"/>
            <a:ext cx="3843194" cy="234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7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71FB-50B2-6EF2-2B73-9A179C76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Nested JSON and Lists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05DC2-E3D5-D6B2-57ED-EA7A0ADD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890" y="3810000"/>
            <a:ext cx="2654300" cy="25019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4D9C87-991E-CE2C-934D-BB6D2A04C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object may have multiple associated values.</a:t>
            </a:r>
          </a:p>
          <a:p>
            <a:pPr lvl="1"/>
            <a:r>
              <a:rPr lang="en-US" dirty="0"/>
              <a:t>This can be represented via nested structures and/or lists</a:t>
            </a:r>
          </a:p>
          <a:p>
            <a:pPr lvl="1"/>
            <a:r>
              <a:rPr lang="en-US" dirty="0"/>
              <a:t>Lists are denoted with square brackets, can be used for different records</a:t>
            </a:r>
          </a:p>
          <a:p>
            <a:pPr lvl="1"/>
            <a:r>
              <a:rPr lang="en-US" dirty="0"/>
              <a:t>JSON objects have a “tree”-like, branched structure.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CC0BF-E313-17D3-31C9-4993E8EF2C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38" b="3069"/>
          <a:stretch/>
        </p:blipFill>
        <p:spPr>
          <a:xfrm>
            <a:off x="5609962" y="3810000"/>
            <a:ext cx="2933700" cy="260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4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B8B2-9693-14EB-5E58-736EE022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Examples of JSON Formats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6AA240D-B169-276F-4C1D-DA7B5C5F8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203" y="2162400"/>
            <a:ext cx="2311544" cy="253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D16D71-74D4-3C5E-C4AB-99AEEB698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255" y="2121809"/>
            <a:ext cx="3726469" cy="26881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86C008-FD87-F619-2831-691A249CC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684" y="2209096"/>
            <a:ext cx="3933138" cy="243980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F97E61-86C4-F96F-41A6-AFBBE988B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627" y="4917616"/>
            <a:ext cx="2008695" cy="10684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dictionaries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3A5FD9-87BD-14DC-AD50-7FEE6CA993C1}"/>
              </a:ext>
            </a:extLst>
          </p:cNvPr>
          <p:cNvSpPr txBox="1">
            <a:spLocks/>
          </p:cNvSpPr>
          <p:nvPr/>
        </p:nvSpPr>
        <p:spPr>
          <a:xfrm>
            <a:off x="4477020" y="4917616"/>
            <a:ext cx="2668498" cy="1068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Jupyter</a:t>
            </a:r>
            <a:r>
              <a:rPr lang="en-US" dirty="0"/>
              <a:t> notebooks raw code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BF2FE2-4BCF-26CE-E1D4-137AA582FA10}"/>
              </a:ext>
            </a:extLst>
          </p:cNvPr>
          <p:cNvSpPr txBox="1">
            <a:spLocks/>
          </p:cNvSpPr>
          <p:nvPr/>
        </p:nvSpPr>
        <p:spPr>
          <a:xfrm>
            <a:off x="7897683" y="4917616"/>
            <a:ext cx="3131677" cy="1068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Output from APIs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46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991F-BBD4-4C43-2DF8-FB665C63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277" y="2373034"/>
            <a:ext cx="7684416" cy="1325563"/>
          </a:xfrm>
        </p:spPr>
        <p:txBody>
          <a:bodyPr/>
          <a:lstStyle/>
          <a:p>
            <a:r>
              <a:rPr lang="en-US" dirty="0"/>
              <a:t>Self-Directed Portion: Lecture 5 Python Notebook</a:t>
            </a:r>
          </a:p>
        </p:txBody>
      </p:sp>
    </p:spTree>
    <p:extLst>
      <p:ext uri="{BB962C8B-B14F-4D97-AF65-F5344CB8AC3E}">
        <p14:creationId xmlns:p14="http://schemas.microsoft.com/office/powerpoint/2010/main" val="195183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3469" y="354852"/>
            <a:ext cx="1219169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Part II: Introduction to HTML</a:t>
            </a:r>
          </a:p>
        </p:txBody>
      </p:sp>
    </p:spTree>
    <p:extLst>
      <p:ext uri="{BB962C8B-B14F-4D97-AF65-F5344CB8AC3E}">
        <p14:creationId xmlns:p14="http://schemas.microsoft.com/office/powerpoint/2010/main" val="222984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E879-4AF4-1F2E-57EB-0D01FB44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60834-1946-CA70-7EE4-F6FE3B05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HTML stands for </a:t>
            </a:r>
            <a:r>
              <a:rPr lang="en-US" dirty="0" err="1">
                <a:solidFill>
                  <a:srgbClr val="FF0000"/>
                </a:solidFill>
              </a:rPr>
              <a:t>H</a:t>
            </a:r>
            <a:r>
              <a:rPr lang="en-US" dirty="0" err="1"/>
              <a:t>yperText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/>
              <a:t>arkup </a:t>
            </a:r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/>
              <a:t>anguage</a:t>
            </a:r>
          </a:p>
          <a:p>
            <a:pPr lvl="1"/>
            <a:r>
              <a:rPr lang="en-US" dirty="0"/>
              <a:t>HTML uses a nested structure with the different components</a:t>
            </a:r>
          </a:p>
          <a:p>
            <a:pPr lvl="1"/>
            <a:r>
              <a:rPr lang="en-US" dirty="0"/>
              <a:t>Components start with &lt;html&gt;  and ends with &lt;/html&gt;</a:t>
            </a:r>
          </a:p>
          <a:p>
            <a:pPr lvl="1"/>
            <a:r>
              <a:rPr lang="en-US" dirty="0"/>
              <a:t>Different tags &lt;header&gt;, &lt;body&gt;, &lt;div&gt; signal different parts of </a:t>
            </a:r>
          </a:p>
          <a:p>
            <a:pPr lvl="1"/>
            <a:r>
              <a:rPr lang="en-US" dirty="0"/>
              <a:t>&lt;div&gt; is a common tag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9A3DE-47BD-9744-2A51-BCA37B395B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/>
          <a:stretch/>
        </p:blipFill>
        <p:spPr>
          <a:xfrm>
            <a:off x="1943100" y="4192199"/>
            <a:ext cx="7163845" cy="23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7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6487-CA28-9869-3140-844FED8E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F7D87-A35D-9C4D-4211-22F6B34945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/>
          <a:stretch/>
        </p:blipFill>
        <p:spPr>
          <a:xfrm>
            <a:off x="1194954" y="3147820"/>
            <a:ext cx="7163845" cy="2300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5A02E5-C478-9ED7-6E8C-158CE51394C8}"/>
              </a:ext>
            </a:extLst>
          </p:cNvPr>
          <p:cNvSpPr txBox="1"/>
          <p:nvPr/>
        </p:nvSpPr>
        <p:spPr>
          <a:xfrm>
            <a:off x="626052" y="1913512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HTML components include tags, e.g. “class”, “role”, etc. that can be used to identify and extract objects.</a:t>
            </a:r>
          </a:p>
        </p:txBody>
      </p:sp>
    </p:spTree>
    <p:extLst>
      <p:ext uri="{BB962C8B-B14F-4D97-AF65-F5344CB8AC3E}">
        <p14:creationId xmlns:p14="http://schemas.microsoft.com/office/powerpoint/2010/main" val="426681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E879-4AF4-1F2E-57EB-0D01FB44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HTML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672CE-5D8D-971D-781E-D0EFC274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612900"/>
            <a:ext cx="10261600" cy="3632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4527FD-F6F6-2A74-8931-F87AFFD6E3E9}"/>
              </a:ext>
            </a:extLst>
          </p:cNvPr>
          <p:cNvSpPr txBox="1"/>
          <p:nvPr/>
        </p:nvSpPr>
        <p:spPr>
          <a:xfrm>
            <a:off x="1267691" y="5496791"/>
            <a:ext cx="901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Kaefer, Frederick, and Paul Kaefer.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Introduction to Python Programming for Business and Social Science Applications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SAGE Publications, 2020, Chapter 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57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991F-BBD4-4C43-2DF8-FB665C63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277" y="2373034"/>
            <a:ext cx="7684416" cy="1325563"/>
          </a:xfrm>
        </p:spPr>
        <p:txBody>
          <a:bodyPr/>
          <a:lstStyle/>
          <a:p>
            <a:r>
              <a:rPr lang="en-US" dirty="0"/>
              <a:t>In-class Example of Developer Mode</a:t>
            </a:r>
          </a:p>
        </p:txBody>
      </p:sp>
    </p:spTree>
    <p:extLst>
      <p:ext uri="{BB962C8B-B14F-4D97-AF65-F5344CB8AC3E}">
        <p14:creationId xmlns:p14="http://schemas.microsoft.com/office/powerpoint/2010/main" val="368644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purl.org/dc/terms/"/>
    <ds:schemaRef ds:uri="16c05727-aa75-4e4a-9b5f-8a80a1165891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  <ds:schemaRef ds:uri="71af3243-3dd4-4a8d-8c0d-dd76da1f02a5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4926</TotalTime>
  <Words>692</Words>
  <Application>Microsoft Office PowerPoint</Application>
  <PresentationFormat>Widescreen</PresentationFormat>
  <Paragraphs>68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DSCI 530: Introduction to Web Scraping</vt:lpstr>
      <vt:lpstr>What is web scraping?</vt:lpstr>
      <vt:lpstr>Types of Web Scraping</vt:lpstr>
      <vt:lpstr>Types of Web Scraping</vt:lpstr>
      <vt:lpstr> Benefits of Web Scraping </vt:lpstr>
      <vt:lpstr>Challenges of Web Scraping</vt:lpstr>
      <vt:lpstr>Ethical Issues</vt:lpstr>
      <vt:lpstr>Part I: JSON Formatting and Extracting Data via APIs </vt:lpstr>
      <vt:lpstr>JSON Format</vt:lpstr>
      <vt:lpstr>Nested JSON and Lists</vt:lpstr>
      <vt:lpstr>Three Examples of JSON Formats</vt:lpstr>
      <vt:lpstr>Self-Directed Portion: Lecture 5 Python Notebook</vt:lpstr>
      <vt:lpstr>Part II: Introduction to HTML</vt:lpstr>
      <vt:lpstr>HTML</vt:lpstr>
      <vt:lpstr>HTML Tags</vt:lpstr>
      <vt:lpstr>Types of HTML Components</vt:lpstr>
      <vt:lpstr>In-class Example of Developer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QTM 151</dc:title>
  <dc:creator>Juan Estrada</dc:creator>
  <cp:lastModifiedBy>Sanchez Becerra, Alejandro</cp:lastModifiedBy>
  <cp:revision>93</cp:revision>
  <dcterms:created xsi:type="dcterms:W3CDTF">2022-08-18T19:06:53Z</dcterms:created>
  <dcterms:modified xsi:type="dcterms:W3CDTF">2026-09-15T15:25:44Z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